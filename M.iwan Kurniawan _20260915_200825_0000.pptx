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ublic Sans" charset="1" panose="00000000000000000000"/>
      <p:regular r:id="rId12"/>
    </p:embeddedFont>
    <p:embeddedFont>
      <p:font typeface="Canva Sans Bold" charset="1" panose="020B0803030501040103"/>
      <p:regular r:id="rId13"/>
    </p:embeddedFont>
    <p:embeddedFont>
      <p:font typeface="Canva Sans Italics" charset="1" panose="020B0503030501040103"/>
      <p:regular r:id="rId14"/>
    </p:embeddedFont>
    <p:embeddedFont>
      <p:font typeface="Archivo Black" charset="1" panose="020B0A03020202020B04"/>
      <p:regular r:id="rId15"/>
    </p:embeddedFont>
    <p:embeddedFont>
      <p:font typeface="Space Mono" charset="1" panose="02000509040000020004"/>
      <p:regular r:id="rId16"/>
    </p:embeddedFont>
    <p:embeddedFont>
      <p:font typeface="Agrandir Narrow Bold" charset="1" panose="00000806000000000000"/>
      <p:regular r:id="rId17"/>
    </p:embeddedFont>
    <p:embeddedFont>
      <p:font typeface="Public Sans Bold" charset="1" panose="00000000000000000000"/>
      <p:regular r:id="rId18"/>
    </p:embeddedFont>
    <p:embeddedFont>
      <p:font typeface="Arimo Bold" charset="1" panose="020B0704020202020204"/>
      <p:regular r:id="rId19"/>
    </p:embeddedFont>
    <p:embeddedFont>
      <p:font typeface="Fira Sans Bold" charset="1" panose="020B0803050000020004"/>
      <p:regular r:id="rId20"/>
    </p:embeddedFont>
    <p:embeddedFont>
      <p:font typeface="Fira Sans Light" charset="1" panose="020B0403050000020004"/>
      <p:regular r:id="rId21"/>
    </p:embeddedFont>
    <p:embeddedFont>
      <p:font typeface="HK Grotesk Bold" charset="1" panose="00000800000000000000"/>
      <p:regular r:id="rId22"/>
    </p:embeddedFont>
    <p:embeddedFont>
      <p:font typeface="Fredoka" charset="1" panose="02000000000000000000"/>
      <p:regular r:id="rId23"/>
    </p:embeddedFont>
    <p:embeddedFont>
      <p:font typeface="Varela Round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42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83924" y="1028700"/>
            <a:ext cx="9099814" cy="9099775"/>
            <a:chOff x="0" y="0"/>
            <a:chExt cx="12133085" cy="121330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33072" cy="12132945"/>
            </a:xfrm>
            <a:custGeom>
              <a:avLst/>
              <a:gdLst/>
              <a:ahLst/>
              <a:cxnLst/>
              <a:rect r="r" b="b" t="t" l="l"/>
              <a:pathLst>
                <a:path h="12132945" w="12133072">
                  <a:moveTo>
                    <a:pt x="12133072" y="6066536"/>
                  </a:moveTo>
                  <a:cubicBezTo>
                    <a:pt x="12133072" y="9416796"/>
                    <a:pt x="9416923" y="12132945"/>
                    <a:pt x="6066536" y="12132945"/>
                  </a:cubicBezTo>
                  <a:cubicBezTo>
                    <a:pt x="2716149" y="12132945"/>
                    <a:pt x="0" y="9416923"/>
                    <a:pt x="0" y="6066536"/>
                  </a:cubicBezTo>
                  <a:cubicBezTo>
                    <a:pt x="0" y="2716149"/>
                    <a:pt x="2716149" y="0"/>
                    <a:pt x="6066536" y="0"/>
                  </a:cubicBezTo>
                  <a:cubicBezTo>
                    <a:pt x="9416923" y="0"/>
                    <a:pt x="12133072" y="2716149"/>
                    <a:pt x="12133072" y="6066536"/>
                  </a:cubicBezTo>
                  <a:close/>
                </a:path>
              </a:pathLst>
            </a:custGeom>
            <a:blipFill>
              <a:blip r:embed="rId2"/>
              <a:stretch>
                <a:fillRect l="-16666" t="0" r="-1666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883917" y="8722357"/>
            <a:ext cx="2375383" cy="694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5"/>
              </a:lnSpc>
            </a:pPr>
            <a:r>
              <a:rPr lang="en-US" sz="1925">
                <a:solidFill>
                  <a:srgbClr val="FBE698"/>
                </a:solidFill>
                <a:latin typeface="Public Sans"/>
                <a:ea typeface="Public Sans"/>
                <a:cs typeface="Public Sans"/>
                <a:sym typeface="Public Sans"/>
              </a:rPr>
              <a:t>15-SEPTEMBER-2026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716484"/>
            <a:ext cx="9093756" cy="233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4"/>
              </a:lnSpc>
            </a:pPr>
            <a:r>
              <a:rPr lang="en-US" sz="6264" b="true">
                <a:solidFill>
                  <a:srgbClr val="F9BDC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Komponen komponen </a:t>
            </a:r>
          </a:p>
          <a:p>
            <a:pPr algn="l">
              <a:lnSpc>
                <a:spcPts val="6264"/>
              </a:lnSpc>
            </a:pPr>
            <a:r>
              <a:rPr lang="en-US" sz="6264" b="true">
                <a:solidFill>
                  <a:srgbClr val="F9BDC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dasar dalam elektronika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185525"/>
            <a:ext cx="9093756" cy="401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8"/>
              </a:lnSpc>
            </a:pPr>
            <a:r>
              <a:rPr lang="en-US" sz="2199" i="true">
                <a:solidFill>
                  <a:srgbClr val="FBE69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M.IWAN KURNIAWAN </a:t>
            </a:r>
          </a:p>
        </p:txBody>
      </p:sp>
      <p:sp>
        <p:nvSpPr>
          <p:cNvPr name="AutoShape 7" id="7"/>
          <p:cNvSpPr/>
          <p:nvPr/>
        </p:nvSpPr>
        <p:spPr>
          <a:xfrm rot="67920">
            <a:off x="6067254" y="6420774"/>
            <a:ext cx="1929317" cy="0"/>
          </a:xfrm>
          <a:prstGeom prst="line">
            <a:avLst/>
          </a:prstGeom>
          <a:ln cap="rnd" w="38100">
            <a:solidFill>
              <a:srgbClr val="6DECE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7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614241"/>
            <a:ext cx="7323106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700" spc="-114">
                <a:solidFill>
                  <a:srgbClr val="FFD034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RESISTOR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879123"/>
            <a:ext cx="7323106" cy="48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4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PENJELASAN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455157"/>
            <a:ext cx="7323106" cy="151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279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Resistor adalah Komponen yang memberikan hambatan terhadap arus listrik.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291072"/>
            <a:ext cx="7323106" cy="48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4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FUNGSI RESISTOR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078437"/>
            <a:ext cx="7323106" cy="110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207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•membatasi arus Listrik.</a:t>
            </a:r>
          </a:p>
          <a:p>
            <a:pPr algn="l">
              <a:lnSpc>
                <a:spcPts val="2906"/>
              </a:lnSpc>
            </a:pPr>
            <a:r>
              <a:rPr lang="en-US" sz="207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•membagi tegangan.</a:t>
            </a:r>
          </a:p>
          <a:p>
            <a:pPr algn="l">
              <a:lnSpc>
                <a:spcPts val="2906"/>
              </a:lnSpc>
            </a:pPr>
            <a:r>
              <a:rPr lang="en-US" sz="207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•melindungi komponen lain dari arus berlebih.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643604" y="-227152"/>
            <a:ext cx="11039923" cy="11039875"/>
            <a:chOff x="0" y="0"/>
            <a:chExt cx="14719897" cy="147198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719936" cy="14719808"/>
            </a:xfrm>
            <a:custGeom>
              <a:avLst/>
              <a:gdLst/>
              <a:ahLst/>
              <a:cxnLst/>
              <a:rect r="r" b="b" t="t" l="l"/>
              <a:pathLst>
                <a:path h="14719808" w="14719936">
                  <a:moveTo>
                    <a:pt x="14719936" y="7360031"/>
                  </a:moveTo>
                  <a:cubicBezTo>
                    <a:pt x="14719936" y="11424666"/>
                    <a:pt x="11424667" y="14719808"/>
                    <a:pt x="7360031" y="14719808"/>
                  </a:cubicBezTo>
                  <a:cubicBezTo>
                    <a:pt x="3295396" y="14719808"/>
                    <a:pt x="0" y="11424666"/>
                    <a:pt x="0" y="7360031"/>
                  </a:cubicBezTo>
                  <a:cubicBezTo>
                    <a:pt x="0" y="3295142"/>
                    <a:pt x="3295142" y="0"/>
                    <a:pt x="7359904" y="0"/>
                  </a:cubicBezTo>
                  <a:cubicBezTo>
                    <a:pt x="11424667" y="0"/>
                    <a:pt x="14719808" y="3295142"/>
                    <a:pt x="14719808" y="7360031"/>
                  </a:cubicBezTo>
                  <a:close/>
                </a:path>
              </a:pathLst>
            </a:custGeom>
            <a:blipFill>
              <a:blip r:embed="rId2"/>
              <a:stretch>
                <a:fillRect l="-15028" t="0" r="-15028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309441"/>
            <a:ext cx="7323106" cy="982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700" b="true">
                <a:solidFill>
                  <a:srgbClr val="D1D1C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KAPASITOR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879123"/>
            <a:ext cx="7323106" cy="48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499" b="true">
                <a:solidFill>
                  <a:srgbClr val="D1D1C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PENJELASAN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664707"/>
            <a:ext cx="7323106" cy="105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2799">
                <a:solidFill>
                  <a:srgbClr val="D1D1CB"/>
                </a:solidFill>
                <a:latin typeface="Public Sans"/>
                <a:ea typeface="Public Sans"/>
                <a:cs typeface="Public Sans"/>
                <a:sym typeface="Public Sans"/>
              </a:rPr>
              <a:t>Kapasitor adalah komponen yang dapat menyimpan muatan listrik sementara.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291072"/>
            <a:ext cx="7323106" cy="48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499" b="true">
                <a:solidFill>
                  <a:srgbClr val="D1D1C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FUNGSI KAPASITOR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721231"/>
            <a:ext cx="7323106" cy="1785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499">
                <a:solidFill>
                  <a:srgbClr val="D1D1CB"/>
                </a:solidFill>
                <a:latin typeface="Public Sans"/>
                <a:ea typeface="Public Sans"/>
                <a:cs typeface="Public Sans"/>
                <a:sym typeface="Public Sans"/>
              </a:rPr>
              <a:t>•menyimpan energi listrik sementara.</a:t>
            </a:r>
          </a:p>
          <a:p>
            <a:pPr algn="l">
              <a:lnSpc>
                <a:spcPts val="3498"/>
              </a:lnSpc>
            </a:pPr>
            <a:r>
              <a:rPr lang="en-US" sz="2499">
                <a:solidFill>
                  <a:srgbClr val="D1D1CB"/>
                </a:solidFill>
                <a:latin typeface="Public Sans"/>
                <a:ea typeface="Public Sans"/>
                <a:cs typeface="Public Sans"/>
                <a:sym typeface="Public Sans"/>
              </a:rPr>
              <a:t>•meratakan tegangan DC.</a:t>
            </a:r>
          </a:p>
          <a:p>
            <a:pPr algn="l">
              <a:lnSpc>
                <a:spcPts val="3498"/>
              </a:lnSpc>
            </a:pPr>
            <a:r>
              <a:rPr lang="en-US" sz="2499">
                <a:solidFill>
                  <a:srgbClr val="D1D1CB"/>
                </a:solidFill>
                <a:latin typeface="Public Sans"/>
                <a:ea typeface="Public Sans"/>
                <a:cs typeface="Public Sans"/>
                <a:sym typeface="Public Sans"/>
              </a:rPr>
              <a:t>•menghilangkan gangguan.</a:t>
            </a:r>
          </a:p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D1D1CB"/>
                </a:solidFill>
                <a:latin typeface="Public Sans"/>
                <a:ea typeface="Public Sans"/>
                <a:cs typeface="Public Sans"/>
                <a:sym typeface="Public Sans"/>
              </a:rPr>
              <a:t>•digunakan pada rangkaian pewaktu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351806" y="-262138"/>
            <a:ext cx="11039923" cy="11039875"/>
            <a:chOff x="0" y="0"/>
            <a:chExt cx="14719897" cy="147198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719936" cy="14719808"/>
            </a:xfrm>
            <a:custGeom>
              <a:avLst/>
              <a:gdLst/>
              <a:ahLst/>
              <a:cxnLst/>
              <a:rect r="r" b="b" t="t" l="l"/>
              <a:pathLst>
                <a:path h="14719808" w="14719936">
                  <a:moveTo>
                    <a:pt x="14719936" y="7360031"/>
                  </a:moveTo>
                  <a:cubicBezTo>
                    <a:pt x="14719936" y="11424666"/>
                    <a:pt x="11424667" y="14719808"/>
                    <a:pt x="7360031" y="14719808"/>
                  </a:cubicBezTo>
                  <a:cubicBezTo>
                    <a:pt x="3295396" y="14719808"/>
                    <a:pt x="0" y="11424666"/>
                    <a:pt x="0" y="7360031"/>
                  </a:cubicBezTo>
                  <a:cubicBezTo>
                    <a:pt x="0" y="3295142"/>
                    <a:pt x="3295142" y="0"/>
                    <a:pt x="7359904" y="0"/>
                  </a:cubicBezTo>
                  <a:cubicBezTo>
                    <a:pt x="11424667" y="0"/>
                    <a:pt x="14719808" y="3295142"/>
                    <a:pt x="14719808" y="7360031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36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532012"/>
            <a:ext cx="7323106" cy="880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8"/>
              </a:lnSpc>
            </a:pPr>
            <a:r>
              <a:rPr lang="en-US" b="true" sz="7298" spc="144">
                <a:solidFill>
                  <a:srgbClr val="FAD02C"/>
                </a:solidFill>
                <a:latin typeface="Arimo Bold"/>
                <a:ea typeface="Arimo Bold"/>
                <a:cs typeface="Arimo Bold"/>
                <a:sym typeface="Arimo Bold"/>
              </a:rPr>
              <a:t>DIODA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898173"/>
            <a:ext cx="7323106" cy="469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b="true" sz="2499" spc="48">
                <a:solidFill>
                  <a:srgbClr val="FAD02C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PENJELASAN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436107"/>
            <a:ext cx="7323106" cy="1529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2799" spc="41">
                <a:solidFill>
                  <a:srgbClr val="E9EAE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Dioda adalah komponen semikonduktor yang pada dasarnya memungkinkan arus mengalir terutama dalam satu arah.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310122"/>
            <a:ext cx="7323106" cy="469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b="true" sz="2499" spc="48">
                <a:solidFill>
                  <a:srgbClr val="FAD02C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FUNGSI DIODA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950469"/>
            <a:ext cx="7323106" cy="1346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499" spc="36">
                <a:solidFill>
                  <a:srgbClr val="E9EAE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•membatasi arus Listrik.</a:t>
            </a:r>
          </a:p>
          <a:p>
            <a:pPr algn="l">
              <a:lnSpc>
                <a:spcPts val="3498"/>
              </a:lnSpc>
            </a:pPr>
            <a:r>
              <a:rPr lang="en-US" sz="2499" spc="36">
                <a:solidFill>
                  <a:srgbClr val="E9EAE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•membagi tegangan.</a:t>
            </a:r>
          </a:p>
          <a:p>
            <a:pPr algn="l">
              <a:lnSpc>
                <a:spcPts val="3498"/>
              </a:lnSpc>
            </a:pPr>
            <a:r>
              <a:rPr lang="en-US" sz="2499" spc="36">
                <a:solidFill>
                  <a:srgbClr val="E9EAE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•melindungi komponen lain dari arus berlebih.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351806" y="-376438"/>
            <a:ext cx="11039923" cy="11039875"/>
            <a:chOff x="0" y="0"/>
            <a:chExt cx="14719897" cy="147198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719936" cy="14719808"/>
            </a:xfrm>
            <a:custGeom>
              <a:avLst/>
              <a:gdLst/>
              <a:ahLst/>
              <a:cxnLst/>
              <a:rect r="r" b="b" t="t" l="l"/>
              <a:pathLst>
                <a:path h="14719808" w="14719936">
                  <a:moveTo>
                    <a:pt x="14719936" y="7360031"/>
                  </a:moveTo>
                  <a:cubicBezTo>
                    <a:pt x="14719936" y="11424666"/>
                    <a:pt x="11424667" y="14719808"/>
                    <a:pt x="7360031" y="14719808"/>
                  </a:cubicBezTo>
                  <a:cubicBezTo>
                    <a:pt x="3295396" y="14719808"/>
                    <a:pt x="0" y="11424666"/>
                    <a:pt x="0" y="7360031"/>
                  </a:cubicBezTo>
                  <a:cubicBezTo>
                    <a:pt x="0" y="3295142"/>
                    <a:pt x="3295142" y="0"/>
                    <a:pt x="7359904" y="0"/>
                  </a:cubicBezTo>
                  <a:cubicBezTo>
                    <a:pt x="11424667" y="0"/>
                    <a:pt x="14719808" y="3295142"/>
                    <a:pt x="14719808" y="7360031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633291"/>
            <a:ext cx="7323106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700" b="true">
                <a:solidFill>
                  <a:srgbClr val="CAE8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TRANSISTOR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898173"/>
            <a:ext cx="7323106" cy="469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b="true" sz="2499" spc="199">
                <a:solidFill>
                  <a:srgbClr val="5CB6F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PENJELASAN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436107"/>
            <a:ext cx="7323106" cy="1529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2799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Transistor adalah komponen semikonduktor yang dapat digunakan sebagai saklar elektronik.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310122"/>
            <a:ext cx="7323106" cy="469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b="true" sz="2499" spc="199">
                <a:solidFill>
                  <a:srgbClr val="5CB6F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FUNGSI TRANSISTOR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950469"/>
            <a:ext cx="7323106" cy="1346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499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•menguatkan sinyal.</a:t>
            </a:r>
          </a:p>
          <a:p>
            <a:pPr algn="l">
              <a:lnSpc>
                <a:spcPts val="3498"/>
              </a:lnSpc>
            </a:pPr>
            <a:r>
              <a:rPr lang="en-US" sz="2499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•menghidupkan/mematikan rangkaian.</a:t>
            </a:r>
          </a:p>
          <a:p>
            <a:pPr algn="l">
              <a:lnSpc>
                <a:spcPts val="3498"/>
              </a:lnSpc>
            </a:pPr>
            <a:r>
              <a:rPr lang="en-US" sz="2499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•mengedalikan arus atau tegangan.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351806" y="-376438"/>
            <a:ext cx="11039923" cy="11039875"/>
            <a:chOff x="0" y="0"/>
            <a:chExt cx="14719897" cy="147198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719936" cy="14719808"/>
            </a:xfrm>
            <a:custGeom>
              <a:avLst/>
              <a:gdLst/>
              <a:ahLst/>
              <a:cxnLst/>
              <a:rect r="r" b="b" t="t" l="l"/>
              <a:pathLst>
                <a:path h="14719808" w="14719936">
                  <a:moveTo>
                    <a:pt x="14719936" y="7360031"/>
                  </a:moveTo>
                  <a:cubicBezTo>
                    <a:pt x="14719936" y="11424666"/>
                    <a:pt x="11424667" y="14719808"/>
                    <a:pt x="7360031" y="14719808"/>
                  </a:cubicBezTo>
                  <a:cubicBezTo>
                    <a:pt x="3295396" y="14719808"/>
                    <a:pt x="0" y="11424666"/>
                    <a:pt x="0" y="7360031"/>
                  </a:cubicBezTo>
                  <a:cubicBezTo>
                    <a:pt x="0" y="3295142"/>
                    <a:pt x="3295142" y="0"/>
                    <a:pt x="7359904" y="0"/>
                  </a:cubicBezTo>
                  <a:cubicBezTo>
                    <a:pt x="11424667" y="0"/>
                    <a:pt x="14719808" y="3295142"/>
                    <a:pt x="14719808" y="7360031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633291"/>
            <a:ext cx="7323106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700">
                <a:solidFill>
                  <a:srgbClr val="EDD947"/>
                </a:solidFill>
                <a:latin typeface="Fredoka"/>
                <a:ea typeface="Fredoka"/>
                <a:cs typeface="Fredoka"/>
                <a:sym typeface="Fredoka"/>
              </a:rPr>
              <a:t>INDUKTOR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898173"/>
            <a:ext cx="7323106" cy="469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499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penjelasan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436107"/>
            <a:ext cx="7323106" cy="1529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2799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Induktor adalah kumparan kawat yang menyimpan energi dalam bentuk Medan magnet.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310122"/>
            <a:ext cx="7323106" cy="469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499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Fungsi induktor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731394"/>
            <a:ext cx="7323106" cy="1784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499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•menyimpan energi.</a:t>
            </a:r>
          </a:p>
          <a:p>
            <a:pPr algn="l">
              <a:lnSpc>
                <a:spcPts val="3498"/>
              </a:lnSpc>
            </a:pPr>
            <a:r>
              <a:rPr lang="en-US" sz="2499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•menyaring sinyal.</a:t>
            </a:r>
          </a:p>
          <a:p>
            <a:pPr algn="l">
              <a:lnSpc>
                <a:spcPts val="3498"/>
              </a:lnSpc>
            </a:pPr>
            <a:r>
              <a:rPr lang="en-US" sz="2499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•mengurangi gangguan listrik.</a:t>
            </a:r>
          </a:p>
          <a:p>
            <a:pPr algn="l">
              <a:lnSpc>
                <a:spcPts val="3498"/>
              </a:lnSpc>
            </a:pPr>
            <a:r>
              <a:rPr lang="en-US" sz="2499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•digunakan dalam rangkaian regulator dan filter.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211903" y="-378904"/>
            <a:ext cx="11039923" cy="11039875"/>
            <a:chOff x="0" y="0"/>
            <a:chExt cx="14719897" cy="147198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719936" cy="14719808"/>
            </a:xfrm>
            <a:custGeom>
              <a:avLst/>
              <a:gdLst/>
              <a:ahLst/>
              <a:cxnLst/>
              <a:rect r="r" b="b" t="t" l="l"/>
              <a:pathLst>
                <a:path h="14719808" w="14719936">
                  <a:moveTo>
                    <a:pt x="14719936" y="7360031"/>
                  </a:moveTo>
                  <a:cubicBezTo>
                    <a:pt x="14719936" y="11424666"/>
                    <a:pt x="11424667" y="14719808"/>
                    <a:pt x="7360031" y="14719808"/>
                  </a:cubicBezTo>
                  <a:cubicBezTo>
                    <a:pt x="3295396" y="14719808"/>
                    <a:pt x="0" y="11424666"/>
                    <a:pt x="0" y="7360031"/>
                  </a:cubicBezTo>
                  <a:cubicBezTo>
                    <a:pt x="0" y="3295142"/>
                    <a:pt x="3295142" y="0"/>
                    <a:pt x="7359904" y="0"/>
                  </a:cubicBezTo>
                  <a:cubicBezTo>
                    <a:pt x="11424667" y="0"/>
                    <a:pt x="14719808" y="3295142"/>
                    <a:pt x="14719808" y="7360031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DAHVRSzdlxc</dc:identifier>
  <dcterms:modified xsi:type="dcterms:W3CDTF">2011-08-01T06:04:30Z</dcterms:modified>
  <cp:revision>1</cp:revision>
  <dc:title>M.iwan Kurniawan </dc:title>
</cp:coreProperties>
</file>